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E34540FA-FF60-3107-F861-067D87132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>
            <a:extLst>
              <a:ext uri="{FF2B5EF4-FFF2-40B4-BE49-F238E27FC236}">
                <a16:creationId xmlns:a16="http://schemas.microsoft.com/office/drawing/2014/main" id="{B82A4A18-D087-6220-8868-54EB5FBD4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>
            <a:extLst>
              <a:ext uri="{FF2B5EF4-FFF2-40B4-BE49-F238E27FC236}">
                <a16:creationId xmlns:a16="http://schemas.microsoft.com/office/drawing/2014/main" id="{5B8BF3AE-E506-9CC2-344E-6ECA63B52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55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1914525"/>
            <a:ext cx="100012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Анализ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36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оптимизация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пользовательского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взаимодействия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36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системах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онлайн</a:t>
            </a:r>
            <a:r>
              <a:rPr lang="ru-RU" sz="36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36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бронирования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8287678" y="4613314"/>
            <a:ext cx="3184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Выполнила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С.С.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Жук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8287678" y="5108614"/>
            <a:ext cx="34633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Руководитель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М. Г.</a:t>
            </a:r>
            <a:r>
              <a:rPr lang="ru-RU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Савельева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619750" y="2484090"/>
            <a:ext cx="9525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51256" y="2846040"/>
            <a:ext cx="1088948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Актуальность</a:t>
            </a:r>
            <a:r>
              <a:rPr lang="en-US" sz="540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ru-RU" sz="5400" b="1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п</a:t>
            </a:r>
            <a:r>
              <a:rPr lang="en-US" sz="540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роблематика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10530" y="4065240"/>
            <a:ext cx="1037093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Информационная перегрузка в цифровом туризме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3200"/>
            <a:ext cx="52387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743200"/>
            <a:ext cx="52387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39140" y="3241767"/>
            <a:ext cx="468058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4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Информационный</a:t>
            </a:r>
            <a:r>
              <a:rPr lang="en-US" sz="1404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шум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6004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Избыток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вариантов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(Booking, Agoda)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усложняет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выбор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Пользователь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тратит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больше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времени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на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анализ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чем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на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само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решение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6485334" y="3212915"/>
            <a:ext cx="468058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4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Статичные</a:t>
            </a:r>
            <a:r>
              <a:rPr lang="en-US" sz="1404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механизмы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6772275" y="36004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Фильтры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сортировка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учитывают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контекст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Системы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вынуждают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пользователя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повторно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вводить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одни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же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параметры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Проблемы современных систем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09625" y="1287065"/>
            <a:ext cx="495061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Цель работы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1287065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2515790"/>
            <a:ext cx="4953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Создание адаптивного веб-приложения для бронирования отелей, которое: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000125" y="3993951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Снижает когнитивную нагрузку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00125" y="4519612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Персонализирует выдачу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00125" y="5045273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Оптимизирует процесс поиска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3205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57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8337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2516683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Технологический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стек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571499" y="571266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Трехуровневая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архитектура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Presentation, Business Logic, Data Access.</a:t>
            </a:r>
            <a:endParaRPr dirty="0"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000125" y="2831620"/>
            <a:ext cx="48101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Backend</a:t>
            </a:r>
            <a:r>
              <a:rPr lang="en-US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–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ASP.NET Core, </a:t>
            </a:r>
            <a:r>
              <a:rPr lang="ru-RU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база данных </a:t>
            </a:r>
            <a:r>
              <a:rPr lang="en-US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r>
              <a:rPr lang="ru-RU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через </a:t>
            </a:r>
            <a:r>
              <a:rPr lang="en-US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ORM Entity Framework	</a:t>
            </a:r>
            <a:endParaRPr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1000125" y="3741948"/>
            <a:ext cx="48101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Frontend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–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Next.js </a:t>
            </a:r>
            <a:r>
              <a:rPr lang="ru-RU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 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Typescript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1000124" y="5106974"/>
            <a:ext cx="48101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5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Инфраструктура</a:t>
            </a:r>
            <a:r>
              <a:rPr lang="en-US" sz="165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ru-RU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–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Docker </a:t>
            </a:r>
            <a:r>
              <a:rPr lang="ru-RU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 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Docker Compose</a:t>
            </a:r>
            <a:endParaRPr dirty="0"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88171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499" y="428334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99" y="5185766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09625" y="571500"/>
            <a:ext cx="113514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Архитектура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ru-RU" sz="3150" b="1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с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истемы</a:t>
            </a: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41;p17" descr="image.png">
            <a:extLst>
              <a:ext uri="{FF2B5EF4-FFF2-40B4-BE49-F238E27FC236}">
                <a16:creationId xmlns:a16="http://schemas.microsoft.com/office/drawing/2014/main" id="{8684A17D-1D5D-72E5-03D7-D7348546AC9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499" y="3819870"/>
            <a:ext cx="2000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8;p17">
            <a:extLst>
              <a:ext uri="{FF2B5EF4-FFF2-40B4-BE49-F238E27FC236}">
                <a16:creationId xmlns:a16="http://schemas.microsoft.com/office/drawing/2014/main" id="{2148921F-8ED9-9A93-2462-1CD4007D7B09}"/>
              </a:ext>
            </a:extLst>
          </p:cNvPr>
          <p:cNvSpPr txBox="1"/>
          <p:nvPr/>
        </p:nvSpPr>
        <p:spPr>
          <a:xfrm>
            <a:off x="1000124" y="4200977"/>
            <a:ext cx="48101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DB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– </a:t>
            </a:r>
            <a:r>
              <a:rPr lang="ru-RU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база данных </a:t>
            </a:r>
            <a:r>
              <a:rPr lang="en-US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r>
              <a:rPr lang="ru-RU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через </a:t>
            </a:r>
            <a:r>
              <a:rPr lang="en-US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ORM Entity Framework	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5562"/>
            <a:ext cx="3492549" cy="2922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95562"/>
            <a:ext cx="3492549" cy="2922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95562"/>
            <a:ext cx="3492549" cy="292292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94225" y="36242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Каталог и поиск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66775" y="4148137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Фильтрация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цене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звездам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ru-RU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удобствам отеля и номера 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рейтингу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4572524" y="36242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Бронирование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645074" y="414813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Создание, редактирование и отмена заявок.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350824" y="36242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Персонализация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423374" y="414813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Сбор данных и генерация рекомендаций.</a:t>
            </a:r>
            <a:endParaRPr/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9384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29384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7124" y="293846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Функциональные модули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1406149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Система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ru-RU" sz="18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запоминает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ru-RU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место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</a:t>
            </a:r>
            <a:r>
              <a:rPr lang="ru-RU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даты заезда и выезда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 </a:t>
            </a:r>
            <a:r>
              <a:rPr lang="ru-RU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количество гостей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809625" y="571500"/>
            <a:ext cx="113514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История поиска</a:t>
            </a:r>
            <a:endParaRPr dirty="0"/>
          </a:p>
        </p:txBody>
      </p:sp>
      <p:sp>
        <p:nvSpPr>
          <p:cNvPr id="180" name="Google Shape;180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C43D77-0E65-6986-A31E-33314F287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797" y="2373489"/>
            <a:ext cx="9466406" cy="30783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8ACC0B06-1C52-F311-9FE5-3893723C6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>
            <a:extLst>
              <a:ext uri="{FF2B5EF4-FFF2-40B4-BE49-F238E27FC236}">
                <a16:creationId xmlns:a16="http://schemas.microsoft.com/office/drawing/2014/main" id="{89CF89E2-2955-1AD7-3545-A8B060948F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DB15E7C-4D16-CDAD-1866-6ED15A93FDF3}"/>
              </a:ext>
            </a:extLst>
          </p:cNvPr>
          <p:cNvSpPr txBox="1"/>
          <p:nvPr/>
        </p:nvSpPr>
        <p:spPr>
          <a:xfrm>
            <a:off x="571500" y="2668190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Система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рассчитывает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персонализированный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рейтинг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отеля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1" name="Google Shape;171;p19">
            <a:extLst>
              <a:ext uri="{FF2B5EF4-FFF2-40B4-BE49-F238E27FC236}">
                <a16:creationId xmlns:a16="http://schemas.microsoft.com/office/drawing/2014/main" id="{95F00A84-4EF1-0E24-84BA-FAB848415FF4}"/>
              </a:ext>
            </a:extLst>
          </p:cNvPr>
          <p:cNvSpPr txBox="1"/>
          <p:nvPr/>
        </p:nvSpPr>
        <p:spPr>
          <a:xfrm>
            <a:off x="1000125" y="3258740"/>
            <a:ext cx="106203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Бонус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за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город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если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пользователь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часто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ищет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это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направление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.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2" name="Google Shape;172;p19">
            <a:extLst>
              <a:ext uri="{FF2B5EF4-FFF2-40B4-BE49-F238E27FC236}">
                <a16:creationId xmlns:a16="http://schemas.microsoft.com/office/drawing/2014/main" id="{CFC1998C-EA26-BB3B-1212-EC9D4DCFE883}"/>
              </a:ext>
            </a:extLst>
          </p:cNvPr>
          <p:cNvSpPr txBox="1"/>
          <p:nvPr/>
        </p:nvSpPr>
        <p:spPr>
          <a:xfrm>
            <a:off x="1000125" y="3784401"/>
            <a:ext cx="106203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Бонус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за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бюджет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совпадение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с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предпочитаемым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диапазоном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цен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.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2A33AE3D-A3F3-F736-7CB3-7CCED7C3AF59}"/>
              </a:ext>
            </a:extLst>
          </p:cNvPr>
          <p:cNvSpPr txBox="1"/>
          <p:nvPr/>
        </p:nvSpPr>
        <p:spPr>
          <a:xfrm>
            <a:off x="1000125" y="4310062"/>
            <a:ext cx="106203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Бонус за удобства: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наличие Wi-Fi, завтрака или бассейна по истории фильтров.</a:t>
            </a:r>
            <a:endParaRPr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F2F85739-B999-8A6D-FF5A-D1EDA4B58E6B}"/>
              </a:ext>
            </a:extLst>
          </p:cNvPr>
          <p:cNvSpPr txBox="1"/>
          <p:nvPr/>
        </p:nvSpPr>
        <p:spPr>
          <a:xfrm>
            <a:off x="1000125" y="4835723"/>
            <a:ext cx="106203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Бонус за активность: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предыдущие просмотры или добавление в избранное.</a:t>
            </a:r>
            <a:endParaRPr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5" name="Google Shape;175;p19" descr="image.png">
            <a:extLst>
              <a:ext uri="{FF2B5EF4-FFF2-40B4-BE49-F238E27FC236}">
                <a16:creationId xmlns:a16="http://schemas.microsoft.com/office/drawing/2014/main" id="{70CA27EF-6D82-B43A-5ABE-A8E5AFC5AC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96840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>
            <a:extLst>
              <a:ext uri="{FF2B5EF4-FFF2-40B4-BE49-F238E27FC236}">
                <a16:creationId xmlns:a16="http://schemas.microsoft.com/office/drawing/2014/main" id="{47CC1ACD-49DB-C1DA-7F00-6E49A23853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2501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>
            <a:extLst>
              <a:ext uri="{FF2B5EF4-FFF2-40B4-BE49-F238E27FC236}">
                <a16:creationId xmlns:a16="http://schemas.microsoft.com/office/drawing/2014/main" id="{304566EC-833A-1887-2429-37BD949167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8162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>
            <a:extLst>
              <a:ext uri="{FF2B5EF4-FFF2-40B4-BE49-F238E27FC236}">
                <a16:creationId xmlns:a16="http://schemas.microsoft.com/office/drawing/2014/main" id="{F8699CA8-4459-22FB-7460-EF13F3328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73823"/>
            <a:ext cx="209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>
            <a:extLst>
              <a:ext uri="{FF2B5EF4-FFF2-40B4-BE49-F238E27FC236}">
                <a16:creationId xmlns:a16="http://schemas.microsoft.com/office/drawing/2014/main" id="{125280E0-79B4-12C9-44D2-FCE45E76ABB5}"/>
              </a:ext>
            </a:extLst>
          </p:cNvPr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Алгоритм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персонализации</a:t>
            </a:r>
            <a:endParaRPr dirty="0"/>
          </a:p>
        </p:txBody>
      </p:sp>
      <p:sp>
        <p:nvSpPr>
          <p:cNvPr id="180" name="Google Shape;180;p19">
            <a:extLst>
              <a:ext uri="{FF2B5EF4-FFF2-40B4-BE49-F238E27FC236}">
                <a16:creationId xmlns:a16="http://schemas.microsoft.com/office/drawing/2014/main" id="{ECFE29C6-A4A7-06E6-B282-AC8B8E12131C}"/>
              </a:ext>
            </a:extLst>
          </p:cNvPr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675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3587"/>
            <a:ext cx="3492549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33587"/>
            <a:ext cx="3492549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33587"/>
            <a:ext cx="3492549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2886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32886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328862"/>
            <a:ext cx="29019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94225" y="418623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Рекомендуем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вам</a:t>
            </a:r>
            <a:endParaRPr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866775" y="4710112"/>
            <a:ext cx="29019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На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основе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личной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истории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действий</a:t>
            </a:r>
            <a:endParaRPr dirty="0"/>
          </a:p>
        </p:txBody>
      </p:sp>
      <p:sp>
        <p:nvSpPr>
          <p:cNvPr id="194" name="Google Shape;194;p20"/>
          <p:cNvSpPr txBox="1"/>
          <p:nvPr/>
        </p:nvSpPr>
        <p:spPr>
          <a:xfrm>
            <a:off x="4572524" y="4186237"/>
            <a:ext cx="30470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ru-RU" sz="1800" b="1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Популярные направления</a:t>
            </a:r>
            <a:endParaRPr lang="ru-RU" sz="1800"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4645074" y="4531264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Тренды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на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основе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общей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статистики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системы</a:t>
            </a:r>
            <a:r>
              <a:rPr lang="ru-RU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(просмотры и бронирования)</a:t>
            </a:r>
            <a:endParaRPr dirty="0"/>
          </a:p>
        </p:txBody>
      </p:sp>
      <p:sp>
        <p:nvSpPr>
          <p:cNvPr id="196" name="Google Shape;196;p20"/>
          <p:cNvSpPr txBox="1"/>
          <p:nvPr/>
        </p:nvSpPr>
        <p:spPr>
          <a:xfrm>
            <a:off x="8350824" y="418623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Похожие отели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423374" y="4710112"/>
            <a:ext cx="29019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Альтернативы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звездам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местоположению</a:t>
            </a:r>
            <a:endParaRPr dirty="0"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232886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5074" y="232886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3374" y="2328862"/>
            <a:ext cx="29019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Типы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рекомендательных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блоков</a:t>
            </a:r>
            <a:endParaRPr dirty="0"/>
          </a:p>
        </p:txBody>
      </p:sp>
      <p:sp>
        <p:nvSpPr>
          <p:cNvPr id="202" name="Google Shape;202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809625" y="571500"/>
            <a:ext cx="113514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Эффективность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поиска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ru-RU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в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ремя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сек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3181350"/>
            <a:ext cx="52387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609600" y="4500562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АЛГОРИТМА </a:t>
            </a:r>
            <a:r>
              <a:rPr lang="ru-RU" sz="2100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СКОРИНГА</a:t>
            </a:r>
            <a:endParaRPr dirty="0"/>
          </a:p>
        </p:txBody>
      </p:sp>
      <p:sp>
        <p:nvSpPr>
          <p:cNvPr id="219" name="Google Shape;219;p22"/>
          <p:cNvSpPr txBox="1"/>
          <p:nvPr/>
        </p:nvSpPr>
        <p:spPr>
          <a:xfrm>
            <a:off x="6781800" y="2981325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Практическая ценность: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781800" y="3448050"/>
            <a:ext cx="4838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Разработана масштабируемая архитектура на ASP.NET Core. Внедрена модель ненавязчивой персонализации, не ограничивающая свободу выбора пользователя.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Итоги реализации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1333500" y="2462212"/>
            <a:ext cx="9525000" cy="14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Хороший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интерфейс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ru-RU" sz="3150" i="1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–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это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не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тот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, в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котором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много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кнопок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, а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тот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который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понимает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намерения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150" b="0" i="1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пользователя</a:t>
            </a:r>
            <a:r>
              <a:rPr lang="en-US" sz="3150" b="0" i="1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dirty="0"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48910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Принцип адаптивного дизайна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62000" y="1890712"/>
            <a:ext cx="635793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2123863" y="2914650"/>
            <a:ext cx="7944274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Спасибо</a:t>
            </a:r>
            <a:r>
              <a:rPr lang="en-US" sz="540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40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за</a:t>
            </a:r>
            <a:r>
              <a:rPr lang="en-US" sz="540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400" b="1" i="0" u="none" strike="noStrike" cap="none" dirty="0" err="1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внимание</a:t>
            </a:r>
            <a:r>
              <a:rPr lang="en-US" sz="5400" b="1" i="0" u="none" strike="noStrike" cap="none" dirty="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352</Words>
  <Application>Microsoft Office PowerPoint</Application>
  <PresentationFormat>Широкоэкранный</PresentationFormat>
  <Paragraphs>54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Poppins</vt:lpstr>
      <vt:lpstr>Calibri</vt:lpstr>
      <vt:lpstr>Arial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Svetlana Zhuk</cp:lastModifiedBy>
  <cp:revision>18</cp:revision>
  <dcterms:modified xsi:type="dcterms:W3CDTF">2026-04-24T09:25:18Z</dcterms:modified>
</cp:coreProperties>
</file>